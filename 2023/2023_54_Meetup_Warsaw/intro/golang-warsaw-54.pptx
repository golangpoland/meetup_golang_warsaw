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7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embeddedFontLst>
    <p:embeddedFont>
      <p:font typeface="Calibri" panose="020F0502020204030204" pitchFamily="34" charset="0"/>
      <p:regular r:id="rId11"/>
      <p:bold r:id="rId12"/>
      <p:italic r:id="rId13"/>
      <p:boldItalic r:id="rId14"/>
    </p:embeddedFont>
    <p:embeddedFont>
      <p:font typeface="Open Sans" panose="020B0606030504020204" pitchFamily="34" charset="0"/>
      <p:regular r:id="rId15"/>
      <p:bold r:id="rId16"/>
      <p:italic r:id="rId17"/>
      <p:boldItalic r:id="rId18"/>
    </p:embeddedFont>
    <p:embeddedFont>
      <p:font typeface="Open Sans SemiBold" panose="020F0502020204030204" pitchFamily="34" charset="0"/>
      <p:regular r:id="rId19"/>
      <p:bold r:id="rId20"/>
      <p:italic r:id="rId21"/>
      <p:boldItalic r:id="rId22"/>
    </p:embeddedFont>
    <p:embeddedFont>
      <p:font typeface="Work Sans" pitchFamily="2" charset="77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430"/>
    <p:restoredTop sz="91412"/>
  </p:normalViewPr>
  <p:slideViewPr>
    <p:cSldViewPr snapToGrid="0">
      <p:cViewPr varScale="1">
        <p:scale>
          <a:sx n="127" d="100"/>
          <a:sy n="127" d="100"/>
        </p:scale>
        <p:origin x="208" y="7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26" Type="http://schemas.openxmlformats.org/officeDocument/2006/relationships/font" Target="fonts/font16.fntdata"/><Relationship Id="rId3" Type="http://schemas.openxmlformats.org/officeDocument/2006/relationships/slide" Target="slides/slide2.xml"/><Relationship Id="rId21" Type="http://schemas.openxmlformats.org/officeDocument/2006/relationships/font" Target="fonts/font11.fntdata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5" Type="http://schemas.openxmlformats.org/officeDocument/2006/relationships/font" Target="fonts/font15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font" Target="fonts/font10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24" Type="http://schemas.openxmlformats.org/officeDocument/2006/relationships/font" Target="fonts/font14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font" Target="fonts/font13.fntdata"/><Relationship Id="rId28" Type="http://schemas.openxmlformats.org/officeDocument/2006/relationships/viewProps" Target="viewProps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font" Target="fonts/font12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5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6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2806c394010_0_46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g2806c394010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2806c394010_0_25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g2806c394010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3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tx">
  <p:cSld name="TITLE_AND_BODY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1524000" y="1122362"/>
            <a:ext cx="9144000" cy="2387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body" idx="1"/>
          </p:nvPr>
        </p:nvSpPr>
        <p:spPr>
          <a:xfrm>
            <a:off x="1524000" y="3602037"/>
            <a:ext cx="9144000" cy="16557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sz="2400"/>
            </a:lvl1pPr>
            <a:lvl2pPr marL="914400" lvl="1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sz="2400"/>
            </a:lvl2pPr>
            <a:lvl3pPr marL="1371600" lvl="2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sz="2400"/>
            </a:lvl3pPr>
            <a:lvl4pPr marL="1828800" lvl="3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sz="2400"/>
            </a:lvl4pPr>
            <a:lvl5pPr marL="2286000" lvl="4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sz="2400"/>
            </a:lvl5pPr>
            <a:lvl6pPr marL="2743200" lvl="5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831850" y="4589462"/>
            <a:ext cx="10515600" cy="15001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Calibri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Calibri"/>
              <a:buNone/>
              <a:defRPr sz="24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Calibri"/>
              <a:buNone/>
              <a:defRPr sz="2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Calibri"/>
              <a:buNone/>
              <a:defRPr sz="2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Calibri"/>
              <a:buNone/>
              <a:defRPr sz="2400">
                <a:solidFill>
                  <a:srgbClr val="888888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839787" y="365125"/>
            <a:ext cx="10515601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body" idx="1"/>
          </p:nvPr>
        </p:nvSpPr>
        <p:spPr>
          <a:xfrm>
            <a:off x="839787" y="1681163"/>
            <a:ext cx="5157789" cy="823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sz="2400" b="1"/>
            </a:lvl2pPr>
            <a:lvl3pPr marL="1371600" lvl="2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sz="2400" b="1"/>
            </a:lvl3pPr>
            <a:lvl4pPr marL="1828800" lvl="3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sz="2400" b="1"/>
            </a:lvl4pPr>
            <a:lvl5pPr marL="2286000" lvl="4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sz="2400" b="1"/>
            </a:lvl5pPr>
            <a:lvl6pPr marL="2743200" lvl="5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body" idx="2"/>
          </p:nvPr>
        </p:nvSpPr>
        <p:spPr>
          <a:xfrm>
            <a:off x="6172200" y="1681163"/>
            <a:ext cx="5183188" cy="823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b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" name="Google Shape;29;p6"/>
          <p:cNvSpPr txBox="1">
            <a:spLocks noGrp="1"/>
          </p:cNvSpPr>
          <p:nvPr>
            <p:ph type="sldNum" idx="1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7"/>
          <p:cNvSpPr txBox="1">
            <a:spLocks noGrp="1"/>
          </p:cNvSpPr>
          <p:nvPr>
            <p:ph type="sldNum" idx="1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>
  <p:cSld name="Content with Ca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body" idx="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3200"/>
              <a:buChar char="•"/>
              <a:defRPr sz="3200"/>
            </a:lvl1pPr>
            <a:lvl2pPr marL="914400" lvl="1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3200"/>
              <a:buChar char="•"/>
              <a:defRPr sz="3200"/>
            </a:lvl2pPr>
            <a:lvl3pPr marL="1371600" lvl="2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3200"/>
              <a:buChar char="•"/>
              <a:defRPr sz="3200"/>
            </a:lvl3pPr>
            <a:lvl4pPr marL="1828800" lvl="3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3200"/>
              <a:buChar char="•"/>
              <a:defRPr sz="3200"/>
            </a:lvl4pPr>
            <a:lvl5pPr marL="2286000" lvl="4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3200"/>
              <a:buChar char="•"/>
              <a:defRPr sz="3200"/>
            </a:lvl5pPr>
            <a:lvl6pPr marL="2743200" lvl="5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body" idx="2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sldNum" idx="1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>
  <p:cSld name="Picture with Caption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0"/>
          <p:cNvSpPr>
            <a:spLocks noGrp="1"/>
          </p:cNvSpPr>
          <p:nvPr>
            <p:ph type="pic" idx="2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43" name="Google Shape;43;p10"/>
          <p:cNvSpPr txBox="1">
            <a:spLocks noGrp="1"/>
          </p:cNvSpPr>
          <p:nvPr>
            <p:ph type="body" idx="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  <a:defRPr sz="1600"/>
            </a:lvl2pPr>
            <a:lvl3pPr marL="1371600" lvl="2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  <a:defRPr sz="1600"/>
            </a:lvl3pPr>
            <a:lvl4pPr marL="1828800" lvl="3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  <a:defRPr sz="1600"/>
            </a:lvl4pPr>
            <a:lvl5pPr marL="2286000" lvl="4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0"/>
          <p:cNvSpPr txBox="1">
            <a:spLocks noGrp="1"/>
          </p:cNvSpPr>
          <p:nvPr>
            <p:ph type="sldNum" idx="1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facebook.com/groups/golangpolandjobs" TargetMode="External"/><Relationship Id="rId3" Type="http://schemas.openxmlformats.org/officeDocument/2006/relationships/hyperlink" Target="mailto:lukasz@lukaszgut.com" TargetMode="External"/><Relationship Id="rId7" Type="http://schemas.openxmlformats.org/officeDocument/2006/relationships/hyperlink" Target="https://github.com/golangpoland/meetup_golang_warsaw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x.com/golangwaw" TargetMode="External"/><Relationship Id="rId5" Type="http://schemas.openxmlformats.org/officeDocument/2006/relationships/hyperlink" Target="mailto:wbarczynski@gmail.com" TargetMode="External"/><Relationship Id="rId4" Type="http://schemas.openxmlformats.org/officeDocument/2006/relationships/hyperlink" Target="mailto:jakubdal@gmail.com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invite.slack.golangbridge.org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oogle Shape;49;p11" descr="Picture 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21263" y="1082507"/>
            <a:ext cx="3041035" cy="4210663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11"/>
          <p:cNvSpPr txBox="1"/>
          <p:nvPr/>
        </p:nvSpPr>
        <p:spPr>
          <a:xfrm>
            <a:off x="91500" y="593355"/>
            <a:ext cx="121005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Work Sans"/>
              <a:buNone/>
            </a:pPr>
            <a:r>
              <a:rPr lang="en-GB" sz="3600" i="0" u="none" strike="noStrike" cap="none" dirty="0">
                <a:solidFill>
                  <a:srgbClr val="000000"/>
                </a:solidFill>
                <a:latin typeface="Work Sans" pitchFamily="2" charset="77"/>
                <a:ea typeface="Open Sans SemiBold"/>
                <a:cs typeface="Open Sans SemiBold"/>
                <a:sym typeface="Open Sans SemiBold"/>
              </a:rPr>
              <a:t>Golang Warsaw #54</a:t>
            </a:r>
            <a:endParaRPr sz="1800" i="0" u="none" strike="noStrike" cap="none" dirty="0">
              <a:solidFill>
                <a:srgbClr val="000000"/>
              </a:solidFill>
              <a:latin typeface="Work Sans" pitchFamily="2" charset="77"/>
              <a:ea typeface="Open Sans SemiBold"/>
              <a:cs typeface="Open Sans SemiBold"/>
              <a:sym typeface="Open Sans SemiBold"/>
            </a:endParaRPr>
          </a:p>
        </p:txBody>
      </p:sp>
      <p:sp>
        <p:nvSpPr>
          <p:cNvPr id="51" name="Google Shape;51;p11"/>
          <p:cNvSpPr txBox="1"/>
          <p:nvPr/>
        </p:nvSpPr>
        <p:spPr>
          <a:xfrm>
            <a:off x="91500" y="4944324"/>
            <a:ext cx="12100500" cy="15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ctr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Work Sans"/>
              <a:buNone/>
            </a:pPr>
            <a:r>
              <a:rPr lang="en-GB" sz="2400" dirty="0">
                <a:latin typeface="Work Sans" pitchFamily="2" charset="77"/>
                <a:ea typeface="Open Sans SemiBold"/>
                <a:cs typeface="Open Sans SemiBold"/>
                <a:sym typeface="Open Sans SemiBold"/>
              </a:rPr>
              <a:t>26</a:t>
            </a:r>
            <a:r>
              <a:rPr lang="en-GB" sz="2400" i="0" u="none" strike="noStrike" cap="none" dirty="0">
                <a:solidFill>
                  <a:srgbClr val="000000"/>
                </a:solidFill>
                <a:latin typeface="Work Sans" pitchFamily="2" charset="77"/>
                <a:ea typeface="Open Sans SemiBold"/>
                <a:cs typeface="Open Sans SemiBold"/>
                <a:sym typeface="Open Sans SemiBold"/>
              </a:rPr>
              <a:t> </a:t>
            </a:r>
            <a:r>
              <a:rPr lang="en-GB" sz="2400" dirty="0">
                <a:latin typeface="Work Sans" pitchFamily="2" charset="77"/>
                <a:ea typeface="Open Sans SemiBold"/>
                <a:cs typeface="Open Sans SemiBold"/>
                <a:sym typeface="Open Sans SemiBold"/>
              </a:rPr>
              <a:t>October</a:t>
            </a:r>
            <a:r>
              <a:rPr lang="en-GB" sz="2400" i="0" u="none" strike="noStrike" cap="none" dirty="0">
                <a:solidFill>
                  <a:srgbClr val="000000"/>
                </a:solidFill>
                <a:latin typeface="Work Sans" pitchFamily="2" charset="77"/>
                <a:ea typeface="Open Sans SemiBold"/>
                <a:cs typeface="Open Sans SemiBold"/>
                <a:sym typeface="Open Sans SemiBold"/>
              </a:rPr>
              <a:t> 2023, Thursday – 1</a:t>
            </a:r>
            <a:r>
              <a:rPr lang="en-GB" sz="2400" dirty="0">
                <a:latin typeface="Work Sans" pitchFamily="2" charset="77"/>
                <a:ea typeface="Open Sans SemiBold"/>
                <a:cs typeface="Open Sans SemiBold"/>
                <a:sym typeface="Open Sans SemiBold"/>
              </a:rPr>
              <a:t>8</a:t>
            </a:r>
            <a:r>
              <a:rPr lang="en-GB" sz="2400" i="0" u="none" strike="noStrike" cap="none" dirty="0">
                <a:solidFill>
                  <a:srgbClr val="000000"/>
                </a:solidFill>
                <a:latin typeface="Work Sans" pitchFamily="2" charset="77"/>
                <a:ea typeface="Open Sans SemiBold"/>
                <a:cs typeface="Open Sans SemiBold"/>
                <a:sym typeface="Open Sans SemiBold"/>
              </a:rPr>
              <a:t>:20</a:t>
            </a:r>
            <a:endParaRPr lang="en-GB" sz="2400" dirty="0">
              <a:latin typeface="Work Sans" pitchFamily="2" charset="77"/>
              <a:ea typeface="Open Sans SemiBold"/>
              <a:cs typeface="Open Sans SemiBold"/>
              <a:sym typeface="Open Sans SemiBold"/>
            </a:endParaRPr>
          </a:p>
          <a:p>
            <a:pPr marL="0" marR="0" lvl="0" indent="0" algn="ctr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Work Sans"/>
              <a:buNone/>
            </a:pPr>
            <a:r>
              <a:rPr lang="en-GB" sz="2400" dirty="0">
                <a:latin typeface="Work Sans" pitchFamily="2" charset="77"/>
                <a:cs typeface="Open Sans SemiBold"/>
                <a:sym typeface="Open Sans SemiBold"/>
              </a:rPr>
              <a:t>      7N, </a:t>
            </a:r>
            <a:r>
              <a:rPr lang="en-GB" sz="2400" dirty="0" err="1">
                <a:latin typeface="Work Sans" pitchFamily="2" charset="77"/>
                <a:cs typeface="Open Sans SemiBold"/>
                <a:sym typeface="Open Sans SemiBold"/>
              </a:rPr>
              <a:t>P</a:t>
            </a:r>
            <a:r>
              <a:rPr lang="en-GB" sz="2400" dirty="0" err="1">
                <a:latin typeface="Work Sans" pitchFamily="2" charset="77"/>
                <a:cs typeface="Open Sans SemiBold"/>
              </a:rPr>
              <a:t>uławska</a:t>
            </a:r>
            <a:r>
              <a:rPr lang="en-GB" sz="2400" dirty="0">
                <a:latin typeface="Work Sans" pitchFamily="2" charset="77"/>
                <a:cs typeface="Open Sans SemiBold"/>
              </a:rPr>
              <a:t> 182, Warszawa</a:t>
            </a:r>
            <a:endParaRPr lang="en-GB" sz="2400" dirty="0">
              <a:latin typeface="Work Sans" pitchFamily="2" charset="77"/>
              <a:cs typeface="Open Sans SemiBold"/>
              <a:sym typeface="Open Sans SemiBold"/>
            </a:endParaRPr>
          </a:p>
        </p:txBody>
      </p:sp>
      <p:pic>
        <p:nvPicPr>
          <p:cNvPr id="3" name="Graphic 5" descr="Graphic 5">
            <a:extLst>
              <a:ext uri="{FF2B5EF4-FFF2-40B4-BE49-F238E27FC236}">
                <a16:creationId xmlns:a16="http://schemas.microsoft.com/office/drawing/2014/main" id="{BD2058DA-CAC9-F7B3-2B61-D3E5172267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5216" y="2273600"/>
            <a:ext cx="2763865" cy="855483"/>
          </a:xfrm>
          <a:prstGeom prst="rect">
            <a:avLst/>
          </a:prstGeom>
          <a:ln w="12700">
            <a:miter lim="400000"/>
          </a:ln>
        </p:spPr>
      </p:pic>
      <p:pic>
        <p:nvPicPr>
          <p:cNvPr id="4" name="Graphic 7" descr="Graphic 7">
            <a:extLst>
              <a:ext uri="{FF2B5EF4-FFF2-40B4-BE49-F238E27FC236}">
                <a16:creationId xmlns:a16="http://schemas.microsoft.com/office/drawing/2014/main" id="{C4101F7E-C0D9-9693-550C-FF24862EA8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299" y="3421697"/>
            <a:ext cx="1475699" cy="507273"/>
          </a:xfrm>
          <a:prstGeom prst="rect">
            <a:avLst/>
          </a:prstGeom>
          <a:ln w="12700">
            <a:miter lim="400000"/>
          </a:ln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B2CEDB83-E4F7-FD94-E244-4B5E7D5898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08389" y="5668374"/>
            <a:ext cx="1061106" cy="917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title"/>
          </p:nvPr>
        </p:nvSpPr>
        <p:spPr>
          <a:xfrm>
            <a:off x="990600" y="5175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Work Sans"/>
              <a:buNone/>
            </a:pPr>
            <a:r>
              <a:rPr lang="en-GB">
                <a:latin typeface="Open Sans SemiBold"/>
                <a:ea typeface="Open Sans SemiBold"/>
                <a:cs typeface="Open Sans SemiBold"/>
                <a:sym typeface="Open Sans SemiBold"/>
              </a:rPr>
              <a:t>Host</a:t>
            </a:r>
            <a:endParaRPr>
              <a:latin typeface="Open Sans SemiBold"/>
              <a:ea typeface="Open Sans SemiBold"/>
              <a:cs typeface="Open Sans SemiBold"/>
              <a:sym typeface="Open Sans SemiBold"/>
            </a:endParaRP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982C49E7-E757-89BC-596A-6ECC8E4C7B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1981" y="1847850"/>
            <a:ext cx="3308037" cy="2860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p13" descr="Graphic 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114857" y="2213256"/>
            <a:ext cx="4130174" cy="1278388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Work Sans"/>
              <a:buNone/>
            </a:pPr>
            <a:r>
              <a:rPr lang="en-GB">
                <a:latin typeface="Open Sans SemiBold"/>
                <a:ea typeface="Open Sans SemiBold"/>
                <a:cs typeface="Open Sans SemiBold"/>
                <a:sym typeface="Open Sans SemiBold"/>
              </a:rPr>
              <a:t>Sponsors</a:t>
            </a:r>
            <a:endParaRPr>
              <a:latin typeface="Open Sans SemiBold"/>
              <a:ea typeface="Open Sans SemiBold"/>
              <a:cs typeface="Open Sans SemiBold"/>
              <a:sym typeface="Open Sans SemiBold"/>
            </a:endParaRPr>
          </a:p>
        </p:txBody>
      </p:sp>
      <p:pic>
        <p:nvPicPr>
          <p:cNvPr id="65" name="Google Shape;65;p13" descr="Picture 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018226" y="3440327"/>
            <a:ext cx="2155548" cy="298460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raphic 7" descr="Graphic 7">
            <a:extLst>
              <a:ext uri="{FF2B5EF4-FFF2-40B4-BE49-F238E27FC236}">
                <a16:creationId xmlns:a16="http://schemas.microsoft.com/office/drawing/2014/main" id="{6EBE9044-77B1-B818-23B8-A6A28C5A43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8082" y="2678119"/>
            <a:ext cx="3062323" cy="105267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Work Sans"/>
              <a:buNone/>
            </a:pPr>
            <a:r>
              <a:rPr lang="en-GB">
                <a:latin typeface="Open Sans SemiBold"/>
                <a:ea typeface="Open Sans SemiBold"/>
                <a:cs typeface="Open Sans SemiBold"/>
                <a:sym typeface="Open Sans SemiBold"/>
              </a:rPr>
              <a:t>Agenda</a:t>
            </a:r>
            <a:endParaRPr>
              <a:latin typeface="Open Sans SemiBold"/>
              <a:ea typeface="Open Sans SemiBold"/>
              <a:cs typeface="Open Sans SemiBold"/>
              <a:sym typeface="Open Sans SemiBold"/>
            </a:endParaRPr>
          </a:p>
        </p:txBody>
      </p:sp>
      <p:sp>
        <p:nvSpPr>
          <p:cNvPr id="71" name="Google Shape;7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/>
          <a:p>
            <a:pPr marL="45720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400"/>
              <a:buFont typeface="Open Sans"/>
              <a:buAutoNum type="arabicPeriod"/>
            </a:pPr>
            <a:r>
              <a:rPr lang="en-GB" sz="2400" dirty="0">
                <a:latin typeface="Open Sans"/>
                <a:ea typeface="Open Sans"/>
                <a:cs typeface="Open Sans"/>
                <a:sym typeface="Open Sans"/>
              </a:rPr>
              <a:t>TBA - TBA</a:t>
            </a:r>
          </a:p>
          <a:p>
            <a:pPr marL="45720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400"/>
              <a:buFont typeface="Open Sans"/>
              <a:buAutoNum type="arabicPeriod"/>
            </a:pPr>
            <a:r>
              <a:rPr lang="en-GB" sz="2400" dirty="0">
                <a:latin typeface="Open Sans"/>
                <a:ea typeface="Open Sans"/>
                <a:cs typeface="Open Sans"/>
                <a:sym typeface="Open Sans"/>
              </a:rPr>
              <a:t>Break / Your announcements (</a:t>
            </a:r>
            <a:r>
              <a:rPr lang="en-GB" sz="2400" dirty="0" err="1">
                <a:latin typeface="Open Sans"/>
                <a:ea typeface="Open Sans"/>
                <a:cs typeface="Open Sans"/>
                <a:sym typeface="Open Sans"/>
              </a:rPr>
              <a:t>OpenSource</a:t>
            </a:r>
            <a:r>
              <a:rPr lang="en-GB" sz="2400" dirty="0">
                <a:latin typeface="Open Sans"/>
                <a:ea typeface="Open Sans"/>
                <a:cs typeface="Open Sans"/>
                <a:sym typeface="Open Sans"/>
              </a:rPr>
              <a:t>, event etc.); Developer, engineer, lead lost &amp; found || Grab coffee/beer/food;</a:t>
            </a:r>
          </a:p>
          <a:p>
            <a:pPr marL="45720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400"/>
              <a:buFont typeface="Open Sans"/>
              <a:buAutoNum type="arabicPeriod"/>
            </a:pPr>
            <a:r>
              <a:rPr lang="en-GB" sz="2400" dirty="0">
                <a:latin typeface="Open Sans"/>
                <a:ea typeface="Open Sans"/>
                <a:cs typeface="Open Sans"/>
                <a:sym typeface="Open Sans"/>
              </a:rPr>
              <a:t>TBA - </a:t>
            </a:r>
            <a:r>
              <a:rPr lang="pl-PL" sz="2400" dirty="0">
                <a:latin typeface="Open Sans"/>
                <a:ea typeface="Open Sans"/>
                <a:cs typeface="Open Sans"/>
                <a:sym typeface="Open Sans"/>
              </a:rPr>
              <a:t>TBA</a:t>
            </a:r>
            <a:endParaRPr sz="2400" dirty="0"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400"/>
              <a:buFont typeface="Open Sans"/>
              <a:buAutoNum type="arabicPeriod"/>
            </a:pPr>
            <a:r>
              <a:rPr lang="en-GB" sz="2400" dirty="0">
                <a:latin typeface="Open Sans"/>
                <a:ea typeface="Open Sans"/>
                <a:cs typeface="Open Sans"/>
                <a:sym typeface="Open Sans"/>
              </a:rPr>
              <a:t>Afterparty, slowly moving to a place close by</a:t>
            </a:r>
            <a:endParaRPr sz="2400" dirty="0"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Work Sans"/>
              <a:buNone/>
            </a:pPr>
            <a:r>
              <a:rPr lang="en-GB">
                <a:latin typeface="Open Sans SemiBold"/>
                <a:ea typeface="Open Sans SemiBold"/>
                <a:cs typeface="Open Sans SemiBold"/>
                <a:sym typeface="Open Sans SemiBold"/>
              </a:rPr>
              <a:t>Join Slido for Q&amp;A</a:t>
            </a:r>
            <a:endParaRPr>
              <a:latin typeface="Open Sans SemiBold"/>
              <a:ea typeface="Open Sans SemiBold"/>
              <a:cs typeface="Open Sans SemiBold"/>
              <a:sym typeface="Open Sans SemiBold"/>
            </a:endParaRPr>
          </a:p>
        </p:txBody>
      </p:sp>
      <p:pic>
        <p:nvPicPr>
          <p:cNvPr id="77" name="Google Shape;77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76800" y="2209800"/>
            <a:ext cx="2438400" cy="24384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A5F088B-4FAF-325A-BB81-090A09645D65}"/>
              </a:ext>
            </a:extLst>
          </p:cNvPr>
          <p:cNvSpPr/>
          <p:nvPr/>
        </p:nvSpPr>
        <p:spPr>
          <a:xfrm>
            <a:off x="4277709" y="2209800"/>
            <a:ext cx="3132083" cy="26564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6"/>
          <p:cNvSpPr txBox="1"/>
          <p:nvPr/>
        </p:nvSpPr>
        <p:spPr>
          <a:xfrm>
            <a:off x="3647171" y="5161289"/>
            <a:ext cx="92396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Work Sans"/>
              <a:buNone/>
            </a:pPr>
            <a:endParaRPr sz="2800" b="0" i="0" u="none" strike="noStrike" cap="none">
              <a:solidFill>
                <a:srgbClr val="000000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83" name="Google Shape;83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Work Sans"/>
              <a:buNone/>
            </a:pPr>
            <a:r>
              <a:rPr lang="en-GB">
                <a:latin typeface="Open Sans SemiBold"/>
                <a:ea typeface="Open Sans SemiBold"/>
                <a:cs typeface="Open Sans SemiBold"/>
                <a:sym typeface="Open Sans SemiBold"/>
              </a:rPr>
              <a:t>Looking for speakers!</a:t>
            </a:r>
            <a:endParaRPr>
              <a:latin typeface="Open Sans SemiBold"/>
              <a:ea typeface="Open Sans SemiBold"/>
              <a:cs typeface="Open Sans SemiBold"/>
              <a:sym typeface="Open Sans SemiBold"/>
            </a:endParaRPr>
          </a:p>
        </p:txBody>
      </p:sp>
      <p:sp>
        <p:nvSpPr>
          <p:cNvPr id="84" name="Google Shape;84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/>
          <a:p>
            <a:pPr marL="45720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400"/>
              <a:buFont typeface="Open Sans"/>
              <a:buChar char="•"/>
            </a:pPr>
            <a:r>
              <a:rPr lang="en-GB" sz="2400">
                <a:latin typeface="Open Sans"/>
                <a:ea typeface="Open Sans"/>
                <a:cs typeface="Open Sans"/>
                <a:sym typeface="Open Sans"/>
              </a:rPr>
              <a:t>Golang specifics</a:t>
            </a:r>
            <a:endParaRPr sz="2400"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400"/>
              <a:buFont typeface="Open Sans"/>
              <a:buChar char="•"/>
            </a:pPr>
            <a:r>
              <a:rPr lang="en-GB" sz="2400">
                <a:latin typeface="Open Sans"/>
                <a:ea typeface="Open Sans"/>
                <a:cs typeface="Open Sans"/>
                <a:sym typeface="Open Sans"/>
              </a:rPr>
              <a:t>Software engineering (implement/use/best practices)</a:t>
            </a:r>
            <a:endParaRPr sz="2400"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400"/>
              <a:buFont typeface="Open Sans"/>
              <a:buChar char="•"/>
            </a:pPr>
            <a:r>
              <a:rPr lang="en-GB" sz="2400">
                <a:latin typeface="Open Sans"/>
                <a:ea typeface="Open Sans"/>
                <a:cs typeface="Open Sans"/>
                <a:sym typeface="Open Sans"/>
              </a:rPr>
              <a:t>Tech leadership and/or management</a:t>
            </a:r>
            <a:endParaRPr sz="2400"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400"/>
              <a:buFont typeface="Open Sans"/>
              <a:buChar char="•"/>
            </a:pPr>
            <a:r>
              <a:rPr lang="en-GB" sz="2400">
                <a:latin typeface="Open Sans"/>
                <a:ea typeface="Open Sans"/>
                <a:cs typeface="Open Sans"/>
                <a:sym typeface="Open Sans"/>
              </a:rPr>
              <a:t>Your experience building X</a:t>
            </a:r>
            <a:endParaRPr sz="2400"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Work Sans"/>
              <a:buNone/>
            </a:pPr>
            <a:r>
              <a:rPr lang="en-GB">
                <a:latin typeface="Open Sans SemiBold"/>
                <a:ea typeface="Open Sans SemiBold"/>
                <a:cs typeface="Open Sans SemiBold"/>
                <a:sym typeface="Open Sans SemiBold"/>
              </a:rPr>
              <a:t>Where to find us?</a:t>
            </a:r>
            <a:endParaRPr>
              <a:latin typeface="Open Sans SemiBold"/>
              <a:ea typeface="Open Sans SemiBold"/>
              <a:cs typeface="Open Sans SemiBold"/>
              <a:sym typeface="Open Sans SemiBold"/>
            </a:endParaRPr>
          </a:p>
        </p:txBody>
      </p:sp>
      <p:sp>
        <p:nvSpPr>
          <p:cNvPr id="90" name="Google Shape;90;p1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latin typeface="Open Sans"/>
                <a:ea typeface="Open Sans"/>
                <a:cs typeface="Open Sans"/>
                <a:sym typeface="Open Sans"/>
              </a:rPr>
              <a:t>Email: </a:t>
            </a:r>
            <a:r>
              <a:rPr lang="en-GB" sz="24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3"/>
              </a:rPr>
              <a:t>lukasz@lukaszgut.com</a:t>
            </a:r>
            <a:r>
              <a:rPr lang="en-GB" sz="2400"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GB" sz="24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4"/>
              </a:rPr>
              <a:t>jakubdal@gmail.com</a:t>
            </a:r>
            <a:r>
              <a:rPr lang="en-GB" sz="2400"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GB" sz="24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5"/>
              </a:rPr>
              <a:t>wbarczynski@gmail.com</a:t>
            </a:r>
            <a:endParaRPr sz="2400">
              <a:latin typeface="Open Sans"/>
              <a:ea typeface="Open Sans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latin typeface="Open Sans"/>
                <a:ea typeface="Open Sans"/>
                <a:cs typeface="Open Sans"/>
                <a:sym typeface="Open Sans"/>
              </a:rPr>
              <a:t>Twitter/X: </a:t>
            </a:r>
            <a:r>
              <a:rPr lang="en-GB" sz="24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6"/>
              </a:rPr>
              <a:t>@golangwaw</a:t>
            </a:r>
            <a:endParaRPr sz="2400">
              <a:latin typeface="Open Sans"/>
              <a:ea typeface="Open Sans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latin typeface="Open Sans"/>
                <a:ea typeface="Open Sans"/>
                <a:cs typeface="Open Sans"/>
                <a:sym typeface="Open Sans"/>
              </a:rPr>
              <a:t>Slides: </a:t>
            </a:r>
            <a:r>
              <a:rPr lang="en-GB" sz="24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7"/>
              </a:rPr>
              <a:t>github.com/golangpoland/meetup_golang_warsaw</a:t>
            </a:r>
            <a:endParaRPr sz="2400">
              <a:latin typeface="Open Sans"/>
              <a:ea typeface="Open Sans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latin typeface="Open Sans"/>
                <a:ea typeface="Open Sans"/>
                <a:cs typeface="Open Sans"/>
                <a:sym typeface="Open Sans"/>
              </a:rPr>
              <a:t>Job Board: </a:t>
            </a:r>
            <a:r>
              <a:rPr lang="en-GB" sz="24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8"/>
              </a:rPr>
              <a:t>facebook.com/groups/golangpolandjobs</a:t>
            </a:r>
            <a:endParaRPr sz="2400">
              <a:latin typeface="Open Sans"/>
              <a:ea typeface="Open Sans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Open Sans"/>
              <a:ea typeface="Open Sans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Open Sans"/>
              <a:ea typeface="Open Sans"/>
              <a:cs typeface="Open Sans"/>
              <a:sym typeface="Open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Work Sans"/>
              <a:buNone/>
            </a:pPr>
            <a:r>
              <a:rPr lang="en-GB">
                <a:latin typeface="Open Sans SemiBold"/>
                <a:ea typeface="Open Sans SemiBold"/>
                <a:cs typeface="Open Sans SemiBold"/>
                <a:sym typeface="Open Sans SemiBold"/>
              </a:rPr>
              <a:t>Questions?</a:t>
            </a:r>
            <a:endParaRPr>
              <a:latin typeface="Open Sans SemiBold"/>
              <a:ea typeface="Open Sans SemiBold"/>
              <a:cs typeface="Open Sans SemiBold"/>
              <a:sym typeface="Open Sans SemiBold"/>
            </a:endParaRPr>
          </a:p>
        </p:txBody>
      </p:sp>
      <p:pic>
        <p:nvPicPr>
          <p:cNvPr id="96" name="Google Shape;96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95263" y="2700500"/>
            <a:ext cx="2601487" cy="2601487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80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 lnSpcReduction="10000"/>
          </a:bodyPr>
          <a:lstStyle/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Join channel #poland </a:t>
            </a:r>
            <a:br>
              <a:rPr lang="en-GB" sz="2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</a:br>
            <a:r>
              <a:rPr lang="en-GB" sz="2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on gophers.slack.com.</a:t>
            </a:r>
            <a:endParaRPr sz="240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8" name="Google Shape;98;p18"/>
          <p:cNvSpPr txBox="1">
            <a:spLocks noGrp="1"/>
          </p:cNvSpPr>
          <p:nvPr>
            <p:ph type="body" idx="1"/>
          </p:nvPr>
        </p:nvSpPr>
        <p:spPr>
          <a:xfrm>
            <a:off x="838213" y="5370775"/>
            <a:ext cx="10515600" cy="80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/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24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4"/>
              </a:rPr>
              <a:t>https://invite.slack.golangbridge.org/</a:t>
            </a:r>
            <a:endParaRPr sz="24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2537</TotalTime>
  <Words>171</Words>
  <Application>Microsoft Macintosh PowerPoint</Application>
  <PresentationFormat>Widescreen</PresentationFormat>
  <Paragraphs>25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Calibri</vt:lpstr>
      <vt:lpstr>Work Sans</vt:lpstr>
      <vt:lpstr>Open Sans SemiBold</vt:lpstr>
      <vt:lpstr>Arial</vt:lpstr>
      <vt:lpstr>Open Sans</vt:lpstr>
      <vt:lpstr>Office Theme</vt:lpstr>
      <vt:lpstr>PowerPoint Presentation</vt:lpstr>
      <vt:lpstr>Host</vt:lpstr>
      <vt:lpstr>Sponsors</vt:lpstr>
      <vt:lpstr>Agenda</vt:lpstr>
      <vt:lpstr>Join Slido for Q&amp;A</vt:lpstr>
      <vt:lpstr>Looking for speakers!</vt:lpstr>
      <vt:lpstr>Where to find us?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Wojciech Barczynski</cp:lastModifiedBy>
  <cp:revision>16</cp:revision>
  <dcterms:modified xsi:type="dcterms:W3CDTF">2023-10-12T10:18:38Z</dcterms:modified>
</cp:coreProperties>
</file>